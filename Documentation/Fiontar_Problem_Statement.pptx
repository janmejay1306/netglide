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jBKWD5g/LWVCmwkhrEE/D6UMEG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-874713" y="0"/>
            <a:ext cx="3998913" cy="224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-874713" y="0"/>
            <a:ext cx="3998913" cy="224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-874713" y="0"/>
            <a:ext cx="3998913" cy="224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-874713" y="0"/>
            <a:ext cx="3998913" cy="224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-874713" y="0"/>
            <a:ext cx="3998913" cy="224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p12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p13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p14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0" name="Google Shape;460;p15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6:notes"/>
          <p:cNvSpPr/>
          <p:nvPr>
            <p:ph idx="2" type="sldImg"/>
          </p:nvPr>
        </p:nvSpPr>
        <p:spPr>
          <a:xfrm>
            <a:off x="-874713" y="0"/>
            <a:ext cx="3998913" cy="224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9" name="Google Shape;499;p1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3c620f9c_79_0)">
  <p:cSld name="Generated (g3f63c620f9c_79_0)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1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jp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10" Type="http://schemas.openxmlformats.org/officeDocument/2006/relationships/image" Target="../media/image11.jpg"/><Relationship Id="rId9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9" Type="http://schemas.openxmlformats.org/officeDocument/2006/relationships/image" Target="../media/image11.jp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1.jp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1.jp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1.jp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1.jp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1.jp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"/>
          <p:cNvSpPr/>
          <p:nvPr/>
        </p:nvSpPr>
        <p:spPr>
          <a:xfrm>
            <a:off x="859307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-Powered Coding Platform for Colleges with Placement ..." id="14" name="Google Shape;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6654" y="0"/>
            <a:ext cx="1827899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15" name="Google Shape;15;p1"/>
          <p:cNvPicPr preferRelativeResize="0"/>
          <p:nvPr/>
        </p:nvPicPr>
        <p:blipFill rotWithShape="1">
          <a:blip r:embed="rId4">
            <a:alphaModFix/>
          </a:blip>
          <a:srcRect b="30760" l="0" r="0" t="29689"/>
          <a:stretch/>
        </p:blipFill>
        <p:spPr>
          <a:xfrm>
            <a:off x="0" y="-17297"/>
            <a:ext cx="2341418" cy="5208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1"/>
          <p:cNvCxnSpPr/>
          <p:nvPr/>
        </p:nvCxnSpPr>
        <p:spPr>
          <a:xfrm>
            <a:off x="609600" y="2886456"/>
            <a:ext cx="0" cy="1554480"/>
          </a:xfrm>
          <a:prstGeom prst="straightConnector1">
            <a:avLst/>
          </a:prstGeom>
          <a:noFill/>
          <a:ln cap="flat" cmpd="sng" w="38100">
            <a:solidFill>
              <a:srgbClr val="F9A8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>
            <a:off x="865632" y="2932176"/>
            <a:ext cx="7589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F4F7FB"/>
                </a:solidFill>
                <a:latin typeface="Calibri"/>
                <a:ea typeface="Calibri"/>
                <a:cs typeface="Calibri"/>
                <a:sym typeface="Calibri"/>
              </a:rPr>
              <a:t>From AI Healthcare to accessibility — pitch, build, and prove your startup idea.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09600" y="1108710"/>
            <a:ext cx="7983465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Fiontar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234440" y="68580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TECHVERSE’26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_takeoff.png" id="20" name="Google Shape;2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685800"/>
            <a:ext cx="502920" cy="50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11480" y="548640"/>
            <a:ext cx="68580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Objectives 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11480" y="1371600"/>
            <a:ext cx="1885950" cy="2331720"/>
          </a:xfrm>
          <a:prstGeom prst="roundRect">
            <a:avLst>
              <a:gd fmla="val 436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17220" y="1611630"/>
            <a:ext cx="514350" cy="51435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17220" y="1611630"/>
            <a:ext cx="514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82930" y="2263140"/>
            <a:ext cx="15430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Cross-domain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82930" y="2674620"/>
            <a:ext cx="154305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Spans HealthTech, FinTech, B2B AI SaaS, ClimateTech, and Smart Mobility in one expo.</a:t>
            </a:r>
            <a:endParaRPr b="0" i="0" sz="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503170" y="1371600"/>
            <a:ext cx="1885950" cy="2331720"/>
          </a:xfrm>
          <a:prstGeom prst="roundRect">
            <a:avLst>
              <a:gd fmla="val 436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708910" y="1611630"/>
            <a:ext cx="514350" cy="51435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708910" y="1611630"/>
            <a:ext cx="514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674620" y="2263140"/>
            <a:ext cx="15430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Investor-ready pitches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674620" y="2674620"/>
            <a:ext cx="154305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Teams present a working demo plus a real business case, not just code.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94860" y="1371600"/>
            <a:ext cx="1885950" cy="2331720"/>
          </a:xfrm>
          <a:prstGeom prst="roundRect">
            <a:avLst>
              <a:gd fmla="val 436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800600" y="1611630"/>
            <a:ext cx="514350" cy="51435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00600" y="1611630"/>
            <a:ext cx="514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66310" y="2263140"/>
            <a:ext cx="15430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Scalable difficulty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766310" y="2674620"/>
            <a:ext cx="154305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Works as a simple MVP for beginners or a fundable startup for advanced teams.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686550" y="1371600"/>
            <a:ext cx="1885950" cy="2331720"/>
          </a:xfrm>
          <a:prstGeom prst="roundRect">
            <a:avLst>
              <a:gd fmla="val 436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892290" y="1611630"/>
            <a:ext cx="514350" cy="51435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892290" y="1611630"/>
            <a:ext cx="514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858000" y="2263140"/>
            <a:ext cx="15430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Real-world relevance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858000" y="2674620"/>
            <a:ext cx="154305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Every idea maps to an active market or government funding opportunity.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59307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-Powered Coding Platform for Colleges with Placement ..."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6654" y="0"/>
            <a:ext cx="1827899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49" name="Google Shape;49;p2"/>
          <p:cNvPicPr preferRelativeResize="0"/>
          <p:nvPr/>
        </p:nvPicPr>
        <p:blipFill rotWithShape="1">
          <a:blip r:embed="rId4">
            <a:alphaModFix/>
          </a:blip>
          <a:srcRect b="30760" l="0" r="0" t="29689"/>
          <a:stretch/>
        </p:blipFill>
        <p:spPr>
          <a:xfrm>
            <a:off x="0" y="-17297"/>
            <a:ext cx="2341418" cy="52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411480" y="548640"/>
            <a:ext cx="68580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Takeaways 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11480" y="97383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What Teams Walk Away With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11480" y="140589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82930" y="1645920"/>
            <a:ext cx="480060" cy="4800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map.pn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4879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1165860" y="1597914"/>
            <a:ext cx="19545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HealthTech &amp; MedTech AI</a:t>
            </a:r>
            <a:endParaRPr b="1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170709" y="2069437"/>
            <a:ext cx="17487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 diagnostics, triage &amp; hospital workflow automation</a:t>
            </a:r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223260" y="140589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394710" y="1645920"/>
            <a:ext cx="480060" cy="4800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seedling.png" id="64" name="Google Shape;6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7580" y="174879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3994785" y="1678440"/>
            <a:ext cx="17487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FinTech &amp; Smart Retail</a:t>
            </a:r>
            <a:endParaRPr b="1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994785" y="2078286"/>
            <a:ext cx="17487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Micro-merchant POS automation &amp; stock market analytics</a:t>
            </a:r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035040" y="140589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06490" y="1645920"/>
            <a:ext cx="480060" cy="4800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shield.png" id="69" name="Google Shape;6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174879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6789420" y="1597914"/>
            <a:ext cx="17487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B2B Enterprise SaaS &amp; AI</a:t>
            </a:r>
            <a:endParaRPr b="1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789420" y="1872234"/>
            <a:ext cx="17487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RAG document intelligence &amp; developer workflow agents</a:t>
            </a:r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11480" y="305181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82930" y="3291840"/>
            <a:ext cx="480060" cy="4800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users.png" id="74" name="Google Shape;7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339471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1165860" y="3243834"/>
            <a:ext cx="17487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AgriTech &amp; ClimateTech</a:t>
            </a:r>
            <a:endParaRPr b="1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165860" y="3518154"/>
            <a:ext cx="17487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Crop yield prediction &amp; green cloud energy optimization</a:t>
            </a:r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223260" y="305181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394710" y="3291840"/>
            <a:ext cx="480060" cy="4800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box.png" id="79" name="Google Shape;7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97580" y="339471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3977640" y="3243834"/>
            <a:ext cx="17487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Smart Mobility &amp; Consumer Tech</a:t>
            </a:r>
            <a:endParaRPr b="1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994785" y="3600450"/>
            <a:ext cx="17487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Spatial fleet dispatch, campus ERP &amp; streaming systems</a:t>
            </a:r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59307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-Powered Coding Platform for Colleges with Placement ..." id="83" name="Google Shape;8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76654" y="0"/>
            <a:ext cx="1827899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84" name="Google Shape;84;p3"/>
          <p:cNvPicPr preferRelativeResize="0"/>
          <p:nvPr/>
        </p:nvPicPr>
        <p:blipFill rotWithShape="1">
          <a:blip r:embed="rId9">
            <a:alphaModFix/>
          </a:blip>
          <a:srcRect b="30760" l="0" r="0" t="29689"/>
          <a:stretch/>
        </p:blipFill>
        <p:spPr>
          <a:xfrm>
            <a:off x="0" y="-17297"/>
            <a:ext cx="2341418" cy="52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411480" y="548640"/>
            <a:ext cx="68580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Eligibility Criteria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11480" y="140589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065A82">
              <a:alpha val="85098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82930" y="1597914"/>
            <a:ext cx="425196" cy="425196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industry.png"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007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582930" y="2091690"/>
            <a:ext cx="22974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Academic Level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82930" y="2331720"/>
            <a:ext cx="22974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Open to all B.Tech students any branch, any year of study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223260" y="140589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065A82">
              <a:alpha val="85098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394710" y="1597914"/>
            <a:ext cx="425196" cy="425196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seedling.png" id="98" name="Google Shape;9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7580" y="17007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3394710" y="2091690"/>
            <a:ext cx="22974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394710" y="2331720"/>
            <a:ext cx="22974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Maximum 5 members per team; solo entries are also welcome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035040" y="140589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065A82">
              <a:alpha val="85098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206490" y="1597914"/>
            <a:ext cx="425196" cy="425196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shield.png" id="103" name="Google Shape;10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17007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6206490" y="2091690"/>
            <a:ext cx="22974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Choice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206490" y="2331720"/>
            <a:ext cx="22974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Pick one of our 5 official startup problem statements, or propose your own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11480" y="305181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065A82">
              <a:alpha val="85098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82930" y="3243834"/>
            <a:ext cx="425196" cy="425196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users.png" id="108" name="Google Shape;10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33467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582930" y="3737610"/>
            <a:ext cx="22974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Deadline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82930" y="3977640"/>
            <a:ext cx="22974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Fully working project must be ready before 30th August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223260" y="305181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065A82">
              <a:alpha val="85098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394710" y="3243834"/>
            <a:ext cx="425196" cy="425196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truck.png" id="113" name="Google Shape;11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97580" y="33467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3394710" y="3737610"/>
            <a:ext cx="22974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394710" y="3977640"/>
            <a:ext cx="22974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One-time team registration through our official website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035040" y="305181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065A82">
              <a:alpha val="85098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206490" y="3243834"/>
            <a:ext cx="425196" cy="425196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life.png" id="118" name="Google Shape;11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9360" y="33467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6206490" y="3737610"/>
            <a:ext cx="22974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Institution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206490" y="3977640"/>
            <a:ext cx="22974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9285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Pan India Eligible.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59307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-Powered Coding Platform for Colleges with Placement ..." id="122" name="Google Shape;12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76654" y="0"/>
            <a:ext cx="1827899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123" name="Google Shape;123;p4"/>
          <p:cNvPicPr preferRelativeResize="0"/>
          <p:nvPr/>
        </p:nvPicPr>
        <p:blipFill rotWithShape="1">
          <a:blip r:embed="rId10">
            <a:alphaModFix/>
          </a:blip>
          <a:srcRect b="30760" l="0" r="0" t="29689"/>
          <a:stretch/>
        </p:blipFill>
        <p:spPr>
          <a:xfrm>
            <a:off x="0" y="-17297"/>
            <a:ext cx="2341418" cy="52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411480" y="548640"/>
            <a:ext cx="58293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Prize Money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11480" y="973836"/>
            <a:ext cx="7200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Prize tiers reward working MVPs and strong pitches at every stage.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11480" y="1440180"/>
            <a:ext cx="8298180" cy="740664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11480" y="1440180"/>
            <a:ext cx="82296" cy="740664"/>
          </a:xfrm>
          <a:prstGeom prst="roundRect">
            <a:avLst>
              <a:gd fmla="val 16667" name="adj"/>
            </a:avLst>
          </a:prstGeom>
          <a:solidFill>
            <a:srgbClr val="3E8E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85800" y="1508760"/>
            <a:ext cx="195453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baseline="30000" i="0" lang="en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708910" y="1508760"/>
            <a:ext cx="414909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960870" y="1639062"/>
            <a:ext cx="1611630" cy="342900"/>
          </a:xfrm>
          <a:prstGeom prst="roundRect">
            <a:avLst>
              <a:gd fmla="val 50000" name="adj"/>
            </a:avLst>
          </a:prstGeom>
          <a:solidFill>
            <a:srgbClr val="F4F7FB"/>
          </a:solidFill>
          <a:ln cap="flat" cmpd="sng" w="15875">
            <a:solidFill>
              <a:srgbClr val="3E8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960870" y="1639062"/>
            <a:ext cx="16116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E8E5C"/>
                </a:solidFill>
                <a:latin typeface="Calibri"/>
                <a:ea typeface="Calibri"/>
                <a:cs typeface="Calibri"/>
                <a:sym typeface="Calibri"/>
              </a:rPr>
              <a:t>₹ 100000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11480" y="2318004"/>
            <a:ext cx="8298180" cy="740664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11480" y="2318004"/>
            <a:ext cx="82296" cy="740664"/>
          </a:xfrm>
          <a:prstGeom prst="roundRect">
            <a:avLst>
              <a:gd fmla="val 16667" name="adj"/>
            </a:avLst>
          </a:prstGeom>
          <a:solidFill>
            <a:srgbClr val="3E8E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85800" y="2386584"/>
            <a:ext cx="195453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i="0" lang="en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b="1" i="0" lang="en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2708910" y="2386584"/>
            <a:ext cx="414909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960870" y="2516886"/>
            <a:ext cx="1611630" cy="342900"/>
          </a:xfrm>
          <a:prstGeom prst="roundRect">
            <a:avLst>
              <a:gd fmla="val 50000" name="adj"/>
            </a:avLst>
          </a:prstGeom>
          <a:solidFill>
            <a:srgbClr val="F4F7FB"/>
          </a:solidFill>
          <a:ln cap="flat" cmpd="sng" w="15875">
            <a:solidFill>
              <a:srgbClr val="3E8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960870" y="2516886"/>
            <a:ext cx="16116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8E5C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3E8E5C"/>
                </a:solidFill>
                <a:latin typeface="Calibri"/>
                <a:ea typeface="Calibri"/>
                <a:cs typeface="Calibri"/>
                <a:sym typeface="Calibri"/>
              </a:rPr>
              <a:t>10000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11480" y="3195828"/>
            <a:ext cx="8298180" cy="740664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11480" y="3195828"/>
            <a:ext cx="82296" cy="740664"/>
          </a:xfrm>
          <a:prstGeom prst="roundRect">
            <a:avLst>
              <a:gd fmla="val 16667" name="adj"/>
            </a:avLst>
          </a:prstGeom>
          <a:solidFill>
            <a:srgbClr val="3E8E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85800" y="3264408"/>
            <a:ext cx="195453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baseline="30000" i="0" lang="en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b="1" i="0" lang="en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708910" y="3264408"/>
            <a:ext cx="414909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960870" y="3394710"/>
            <a:ext cx="1611630" cy="342900"/>
          </a:xfrm>
          <a:prstGeom prst="roundRect">
            <a:avLst>
              <a:gd fmla="val 50000" name="adj"/>
            </a:avLst>
          </a:prstGeom>
          <a:solidFill>
            <a:srgbClr val="F4F7FB"/>
          </a:solidFill>
          <a:ln cap="flat" cmpd="sng" w="15875">
            <a:solidFill>
              <a:srgbClr val="3E8E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960870" y="3394710"/>
            <a:ext cx="16116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8E5C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3E8E5C"/>
                </a:solidFill>
                <a:latin typeface="Calibri"/>
                <a:ea typeface="Calibri"/>
                <a:cs typeface="Calibri"/>
                <a:sym typeface="Calibri"/>
              </a:rPr>
              <a:t>5000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8572500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-Powered Coding Platform for Colleges with Placement ..."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6654" y="0"/>
            <a:ext cx="1827899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151" name="Google Shape;151;p5"/>
          <p:cNvPicPr preferRelativeResize="0"/>
          <p:nvPr/>
        </p:nvPicPr>
        <p:blipFill rotWithShape="1">
          <a:blip r:embed="rId4">
            <a:alphaModFix/>
          </a:blip>
          <a:srcRect b="30760" l="0" r="0" t="29689"/>
          <a:stretch/>
        </p:blipFill>
        <p:spPr>
          <a:xfrm>
            <a:off x="0" y="-17297"/>
            <a:ext cx="2341418" cy="52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411480" y="687078"/>
            <a:ext cx="6858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Registration Procedure 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11480" y="126255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From sign-up to the final showdown - how every team moves through Techfest.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6"/>
          <p:cNvCxnSpPr/>
          <p:nvPr/>
        </p:nvCxnSpPr>
        <p:spPr>
          <a:xfrm>
            <a:off x="617220" y="2825496"/>
            <a:ext cx="7886700" cy="0"/>
          </a:xfrm>
          <a:prstGeom prst="straightConnector1">
            <a:avLst/>
          </a:prstGeom>
          <a:noFill/>
          <a:ln cap="flat" cmpd="sng" w="381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6"/>
          <p:cNvSpPr/>
          <p:nvPr/>
        </p:nvSpPr>
        <p:spPr>
          <a:xfrm>
            <a:off x="425196" y="2633472"/>
            <a:ext cx="384000" cy="384000"/>
          </a:xfrm>
          <a:prstGeom prst="ellipse">
            <a:avLst/>
          </a:prstGeom>
          <a:solidFill>
            <a:srgbClr val="21295C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25196" y="2633472"/>
            <a:ext cx="3840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1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-34290" y="1796796"/>
            <a:ext cx="130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Team Registration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-34290" y="2057400"/>
            <a:ext cx="1302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Register your team of up to 5 on our website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002536" y="2633472"/>
            <a:ext cx="384000" cy="384000"/>
          </a:xfrm>
          <a:prstGeom prst="ellipse">
            <a:avLst/>
          </a:prstGeom>
          <a:solidFill>
            <a:srgbClr val="065A8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002536" y="2633472"/>
            <a:ext cx="3840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1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543050" y="3168396"/>
            <a:ext cx="130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Choose Your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543050" y="3429000"/>
            <a:ext cx="1302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Pick one of our 5 problem statement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579876" y="2633472"/>
            <a:ext cx="384000" cy="384000"/>
          </a:xfrm>
          <a:prstGeom prst="ellipse">
            <a:avLst/>
          </a:prstGeom>
          <a:solidFill>
            <a:srgbClr val="21295C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579876" y="2633472"/>
            <a:ext cx="3840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1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120390" y="1796796"/>
            <a:ext cx="130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Submit Elimination PPT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120390" y="2119122"/>
            <a:ext cx="1302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Upload a 10-slide PPT at the time of registration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157216" y="2633472"/>
            <a:ext cx="384000" cy="384000"/>
          </a:xfrm>
          <a:prstGeom prst="ellipse">
            <a:avLst/>
          </a:prstGeom>
          <a:solidFill>
            <a:srgbClr val="065A8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157216" y="2633472"/>
            <a:ext cx="3840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1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697730" y="3168396"/>
            <a:ext cx="130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PPT 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697730" y="3429000"/>
            <a:ext cx="1302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Judges review every submitted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734556" y="2633472"/>
            <a:ext cx="384000" cy="384000"/>
          </a:xfrm>
          <a:prstGeom prst="ellipse">
            <a:avLst/>
          </a:prstGeom>
          <a:solidFill>
            <a:srgbClr val="21295C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734556" y="2633472"/>
            <a:ext cx="3840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 b="1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275070" y="1796796"/>
            <a:ext cx="130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Qualify / Disqualify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275070" y="2105607"/>
            <a:ext cx="1302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Results announced on our website before 30th Aug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311896" y="2633472"/>
            <a:ext cx="384000" cy="384000"/>
          </a:xfrm>
          <a:prstGeom prst="ellipse">
            <a:avLst/>
          </a:prstGeom>
          <a:solidFill>
            <a:srgbClr val="065A8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8311896" y="2633472"/>
            <a:ext cx="3840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6</a:t>
            </a:r>
            <a:endParaRPr b="1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7852410" y="3168396"/>
            <a:ext cx="130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Final Round 30th Aug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7852410" y="3466248"/>
            <a:ext cx="1302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Present full project + PPT live; winners chosen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8593074" y="480060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-Powered Coding Platform for Colleges with Placement ..." id="185" name="Google Shape;1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6654" y="0"/>
            <a:ext cx="1827901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186" name="Google Shape;186;p6"/>
          <p:cNvPicPr preferRelativeResize="0"/>
          <p:nvPr/>
        </p:nvPicPr>
        <p:blipFill rotWithShape="1">
          <a:blip r:embed="rId4">
            <a:alphaModFix/>
          </a:blip>
          <a:srcRect b="30760" l="0" r="0" t="29689"/>
          <a:stretch/>
        </p:blipFill>
        <p:spPr>
          <a:xfrm>
            <a:off x="0" y="-17297"/>
            <a:ext cx="2341419" cy="520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/>
          <p:nvPr/>
        </p:nvSpPr>
        <p:spPr>
          <a:xfrm>
            <a:off x="411480" y="548640"/>
            <a:ext cx="68580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Elimination Round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11480" y="97383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Judged purely on your submitted presentation no prototype required at this stage.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11480" y="140589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82930" y="1597914"/>
            <a:ext cx="425196" cy="4251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gamepad.png" id="196" name="Google Shape;1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007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/>
          <p:nvPr/>
        </p:nvSpPr>
        <p:spPr>
          <a:xfrm>
            <a:off x="582930" y="2091690"/>
            <a:ext cx="22974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10-Slide PPT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82930" y="2352294"/>
            <a:ext cx="229743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Submitted at the time of registration, no hardware needed yet format of PPT will be shared.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223260" y="140589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394710" y="1597914"/>
            <a:ext cx="425196" cy="4251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brain.png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7580" y="17007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3394710" y="2091690"/>
            <a:ext cx="22974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Problem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394710" y="2352294"/>
            <a:ext cx="229743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Clearly explain the problem statement and your proposed solution.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035040" y="140589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206490" y="1597914"/>
            <a:ext cx="425196" cy="4251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route.png" id="206" name="Google Shape;20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17007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/>
          <p:nvPr/>
        </p:nvSpPr>
        <p:spPr>
          <a:xfrm>
            <a:off x="6206490" y="2091690"/>
            <a:ext cx="22974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206490" y="2352294"/>
            <a:ext cx="229743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Can this realistically be built and completed by 30th August.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11480" y="305181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82930" y="3243834"/>
            <a:ext cx="425196" cy="4251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mobile.png" id="211" name="Google Shape;21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33467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582930" y="3737610"/>
            <a:ext cx="22974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Team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82930" y="3998214"/>
            <a:ext cx="229743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Clear role division across your team of up to 5 members.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223260" y="3010220"/>
            <a:ext cx="2640330" cy="147447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394710" y="3202243"/>
            <a:ext cx="425196" cy="4251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users.png" id="216" name="Google Shape;21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97580" y="330511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/>
          <p:nvPr/>
        </p:nvSpPr>
        <p:spPr>
          <a:xfrm>
            <a:off x="3394710" y="3696020"/>
            <a:ext cx="22974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394710" y="3956624"/>
            <a:ext cx="229743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Qualify or disqualify announced on our website before 30th Aug.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59307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-Powered Coding Platform for Colleges with Placement ..." id="220" name="Google Shape;22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76654" y="0"/>
            <a:ext cx="1827899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221" name="Google Shape;221;p7"/>
          <p:cNvPicPr preferRelativeResize="0"/>
          <p:nvPr/>
        </p:nvPicPr>
        <p:blipFill rotWithShape="1">
          <a:blip r:embed="rId9">
            <a:alphaModFix/>
          </a:blip>
          <a:srcRect b="30760" l="0" r="0" t="29689"/>
          <a:stretch/>
        </p:blipFill>
        <p:spPr>
          <a:xfrm>
            <a:off x="0" y="-17297"/>
            <a:ext cx="2341418" cy="52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8"/>
          <p:cNvPicPr preferRelativeResize="0"/>
          <p:nvPr/>
        </p:nvPicPr>
        <p:blipFill rotWithShape="1">
          <a:blip r:embed="rId3">
            <a:alphaModFix/>
          </a:blip>
          <a:srcRect b="30759" l="0" r="0" t="29691"/>
          <a:stretch/>
        </p:blipFill>
        <p:spPr>
          <a:xfrm>
            <a:off x="0" y="-17297"/>
            <a:ext cx="2341500" cy="52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6649" y="0"/>
            <a:ext cx="1827900" cy="5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 txBox="1"/>
          <p:nvPr/>
        </p:nvSpPr>
        <p:spPr>
          <a:xfrm>
            <a:off x="411480" y="548640"/>
            <a:ext cx="6858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Evaluation Criteria</a:t>
            </a:r>
            <a:endParaRPr b="1" i="0" sz="24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29" name="Google Shape;229;p8"/>
          <p:cNvGrpSpPr/>
          <p:nvPr/>
        </p:nvGrpSpPr>
        <p:grpSpPr>
          <a:xfrm>
            <a:off x="411480" y="1405890"/>
            <a:ext cx="2524200" cy="2667000"/>
            <a:chOff x="0" y="0"/>
            <a:chExt cx="2524200" cy="2667000"/>
          </a:xfrm>
        </p:grpSpPr>
        <p:sp>
          <p:nvSpPr>
            <p:cNvPr id="230" name="Google Shape;230;p8"/>
            <p:cNvSpPr/>
            <p:nvPr/>
          </p:nvSpPr>
          <p:spPr>
            <a:xfrm>
              <a:off x="0" y="0"/>
              <a:ext cx="2524200" cy="2667000"/>
            </a:xfrm>
            <a:prstGeom prst="roundRect">
              <a:avLst>
                <a:gd fmla="val 3260" name="adj"/>
              </a:avLst>
            </a:prstGeom>
            <a:solidFill>
              <a:srgbClr val="065A82">
                <a:alpha val="85098"/>
              </a:srgbClr>
            </a:solidFill>
            <a:ln cap="flat" cmpd="sng" w="12675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120777" y="216027"/>
              <a:ext cx="425100" cy="425100"/>
            </a:xfrm>
            <a:prstGeom prst="ellipse">
              <a:avLst/>
            </a:prstGeom>
            <a:solidFill>
              <a:srgbClr val="F9A8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8"/>
            <p:cNvSpPr txBox="1"/>
            <p:nvPr/>
          </p:nvSpPr>
          <p:spPr>
            <a:xfrm>
              <a:off x="228600" y="285750"/>
              <a:ext cx="209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endParaRPr b="1" i="0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33" name="Google Shape;233;p8"/>
            <p:cNvSpPr txBox="1"/>
            <p:nvPr/>
          </p:nvSpPr>
          <p:spPr>
            <a:xfrm>
              <a:off x="190500" y="809625"/>
              <a:ext cx="2143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Innovation &amp; Novelty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Uniqueness of the solution, intellectual depth of the AI/tech model, and divergence from existing common market alternatives.</a:t>
              </a:r>
              <a:endParaRPr b="0" i="0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8"/>
          <p:cNvGrpSpPr/>
          <p:nvPr/>
        </p:nvGrpSpPr>
        <p:grpSpPr>
          <a:xfrm>
            <a:off x="3308985" y="1405890"/>
            <a:ext cx="2524200" cy="2667000"/>
            <a:chOff x="0" y="0"/>
            <a:chExt cx="2524200" cy="2667000"/>
          </a:xfrm>
        </p:grpSpPr>
        <p:sp>
          <p:nvSpPr>
            <p:cNvPr id="235" name="Google Shape;235;p8"/>
            <p:cNvSpPr/>
            <p:nvPr/>
          </p:nvSpPr>
          <p:spPr>
            <a:xfrm>
              <a:off x="0" y="0"/>
              <a:ext cx="2524200" cy="2667000"/>
            </a:xfrm>
            <a:prstGeom prst="roundRect">
              <a:avLst>
                <a:gd fmla="val 3260" name="adj"/>
              </a:avLst>
            </a:prstGeom>
            <a:solidFill>
              <a:srgbClr val="065A82">
                <a:alpha val="85098"/>
              </a:srgbClr>
            </a:solidFill>
            <a:ln cap="flat" cmpd="sng" w="12675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20777" y="216027"/>
              <a:ext cx="425100" cy="425100"/>
            </a:xfrm>
            <a:prstGeom prst="ellipse">
              <a:avLst/>
            </a:prstGeom>
            <a:solidFill>
              <a:srgbClr val="F9A8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8"/>
            <p:cNvSpPr txBox="1"/>
            <p:nvPr/>
          </p:nvSpPr>
          <p:spPr>
            <a:xfrm>
              <a:off x="228600" y="285750"/>
              <a:ext cx="209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endParaRPr b="1" i="0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38" name="Google Shape;238;p8"/>
            <p:cNvSpPr txBox="1"/>
            <p:nvPr/>
          </p:nvSpPr>
          <p:spPr>
            <a:xfrm>
              <a:off x="190500" y="809625"/>
              <a:ext cx="2143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Technical Execution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Robustness of the working demo, code architecture, integration of required data models, and stability under testing scenarios.</a:t>
              </a:r>
              <a:endParaRPr b="0" i="0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8"/>
          <p:cNvGrpSpPr/>
          <p:nvPr/>
        </p:nvGrpSpPr>
        <p:grpSpPr>
          <a:xfrm>
            <a:off x="6206490" y="1405890"/>
            <a:ext cx="2524200" cy="2667000"/>
            <a:chOff x="0" y="0"/>
            <a:chExt cx="2524200" cy="2667000"/>
          </a:xfrm>
        </p:grpSpPr>
        <p:sp>
          <p:nvSpPr>
            <p:cNvPr id="240" name="Google Shape;240;p8"/>
            <p:cNvSpPr/>
            <p:nvPr/>
          </p:nvSpPr>
          <p:spPr>
            <a:xfrm>
              <a:off x="0" y="0"/>
              <a:ext cx="2524200" cy="2667000"/>
            </a:xfrm>
            <a:prstGeom prst="roundRect">
              <a:avLst>
                <a:gd fmla="val 3260" name="adj"/>
              </a:avLst>
            </a:prstGeom>
            <a:solidFill>
              <a:srgbClr val="065A82">
                <a:alpha val="85098"/>
              </a:srgbClr>
            </a:solidFill>
            <a:ln cap="flat" cmpd="sng" w="12675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120777" y="216027"/>
              <a:ext cx="425100" cy="425100"/>
            </a:xfrm>
            <a:prstGeom prst="ellipse">
              <a:avLst/>
            </a:prstGeom>
            <a:solidFill>
              <a:srgbClr val="F9A8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8"/>
            <p:cNvSpPr txBox="1"/>
            <p:nvPr/>
          </p:nvSpPr>
          <p:spPr>
            <a:xfrm>
              <a:off x="228600" y="285750"/>
              <a:ext cx="209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endParaRPr b="1" i="0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190500" y="809625"/>
              <a:ext cx="2143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Business Viability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Market scalability, identification of active funding pathways, and validity of the business model presentation over pure code.</a:t>
              </a:r>
              <a:endParaRPr b="0" i="0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8"/>
          <p:cNvSpPr/>
          <p:nvPr/>
        </p:nvSpPr>
        <p:spPr>
          <a:xfrm>
            <a:off x="859307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9"/>
          <p:cNvPicPr preferRelativeResize="0"/>
          <p:nvPr/>
        </p:nvPicPr>
        <p:blipFill rotWithShape="1">
          <a:blip r:embed="rId3">
            <a:alphaModFix/>
          </a:blip>
          <a:srcRect b="30759" l="0" r="0" t="29691"/>
          <a:stretch/>
        </p:blipFill>
        <p:spPr>
          <a:xfrm>
            <a:off x="0" y="-17297"/>
            <a:ext cx="2341500" cy="52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6649" y="0"/>
            <a:ext cx="1827901" cy="5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9"/>
          <p:cNvSpPr txBox="1"/>
          <p:nvPr/>
        </p:nvSpPr>
        <p:spPr>
          <a:xfrm>
            <a:off x="411480" y="548640"/>
            <a:ext cx="6858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Evaluation Criteria</a:t>
            </a:r>
            <a:endParaRPr b="1" i="0" sz="24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52" name="Google Shape;252;p9"/>
          <p:cNvGrpSpPr/>
          <p:nvPr/>
        </p:nvGrpSpPr>
        <p:grpSpPr>
          <a:xfrm>
            <a:off x="411480" y="1405890"/>
            <a:ext cx="2524200" cy="2667000"/>
            <a:chOff x="0" y="0"/>
            <a:chExt cx="2524200" cy="2667000"/>
          </a:xfrm>
        </p:grpSpPr>
        <p:sp>
          <p:nvSpPr>
            <p:cNvPr id="253" name="Google Shape;253;p9"/>
            <p:cNvSpPr/>
            <p:nvPr/>
          </p:nvSpPr>
          <p:spPr>
            <a:xfrm>
              <a:off x="0" y="0"/>
              <a:ext cx="2524200" cy="2667000"/>
            </a:xfrm>
            <a:prstGeom prst="roundRect">
              <a:avLst>
                <a:gd fmla="val 3260" name="adj"/>
              </a:avLst>
            </a:prstGeom>
            <a:solidFill>
              <a:srgbClr val="065A82">
                <a:alpha val="85098"/>
              </a:srgbClr>
            </a:solidFill>
            <a:ln cap="flat" cmpd="sng" w="12675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120777" y="216027"/>
              <a:ext cx="425100" cy="425100"/>
            </a:xfrm>
            <a:prstGeom prst="ellipse">
              <a:avLst/>
            </a:prstGeom>
            <a:solidFill>
              <a:srgbClr val="F9A8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"/>
            <p:cNvSpPr txBox="1"/>
            <p:nvPr/>
          </p:nvSpPr>
          <p:spPr>
            <a:xfrm>
              <a:off x="228600" y="285750"/>
              <a:ext cx="209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endParaRPr b="1" i="0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56" name="Google Shape;256;p9"/>
            <p:cNvSpPr txBox="1"/>
            <p:nvPr/>
          </p:nvSpPr>
          <p:spPr>
            <a:xfrm>
              <a:off x="190500" y="809625"/>
              <a:ext cx="2143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Innovation &amp; Novelty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Uniqueness of the solution, intellectual depth of the AI/tech model, and divergence from existing common market alternatives.</a:t>
              </a:r>
              <a:endParaRPr b="0" i="0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9"/>
          <p:cNvGrpSpPr/>
          <p:nvPr/>
        </p:nvGrpSpPr>
        <p:grpSpPr>
          <a:xfrm>
            <a:off x="3308985" y="1405890"/>
            <a:ext cx="2524200" cy="2667000"/>
            <a:chOff x="0" y="0"/>
            <a:chExt cx="2524200" cy="2667000"/>
          </a:xfrm>
        </p:grpSpPr>
        <p:sp>
          <p:nvSpPr>
            <p:cNvPr id="258" name="Google Shape;258;p9"/>
            <p:cNvSpPr/>
            <p:nvPr/>
          </p:nvSpPr>
          <p:spPr>
            <a:xfrm>
              <a:off x="0" y="0"/>
              <a:ext cx="2524200" cy="2667000"/>
            </a:xfrm>
            <a:prstGeom prst="roundRect">
              <a:avLst>
                <a:gd fmla="val 3260" name="adj"/>
              </a:avLst>
            </a:prstGeom>
            <a:solidFill>
              <a:srgbClr val="065A82">
                <a:alpha val="85098"/>
              </a:srgbClr>
            </a:solidFill>
            <a:ln cap="flat" cmpd="sng" w="12675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120777" y="216027"/>
              <a:ext cx="425100" cy="425100"/>
            </a:xfrm>
            <a:prstGeom prst="ellipse">
              <a:avLst/>
            </a:prstGeom>
            <a:solidFill>
              <a:srgbClr val="F9A8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9"/>
            <p:cNvSpPr txBox="1"/>
            <p:nvPr/>
          </p:nvSpPr>
          <p:spPr>
            <a:xfrm>
              <a:off x="228600" y="285750"/>
              <a:ext cx="209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endParaRPr b="1" i="0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61" name="Google Shape;261;p9"/>
            <p:cNvSpPr txBox="1"/>
            <p:nvPr/>
          </p:nvSpPr>
          <p:spPr>
            <a:xfrm>
              <a:off x="190500" y="809625"/>
              <a:ext cx="2143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Technical Execution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Robustness of the working demo, code architecture, integration of required data models, and stability under testing scenarios.</a:t>
              </a:r>
              <a:endParaRPr b="0" i="0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9"/>
          <p:cNvGrpSpPr/>
          <p:nvPr/>
        </p:nvGrpSpPr>
        <p:grpSpPr>
          <a:xfrm>
            <a:off x="6206490" y="1405890"/>
            <a:ext cx="2524200" cy="2667000"/>
            <a:chOff x="0" y="0"/>
            <a:chExt cx="2524200" cy="2667000"/>
          </a:xfrm>
        </p:grpSpPr>
        <p:sp>
          <p:nvSpPr>
            <p:cNvPr id="263" name="Google Shape;263;p9"/>
            <p:cNvSpPr/>
            <p:nvPr/>
          </p:nvSpPr>
          <p:spPr>
            <a:xfrm>
              <a:off x="0" y="0"/>
              <a:ext cx="2524200" cy="2667000"/>
            </a:xfrm>
            <a:prstGeom prst="roundRect">
              <a:avLst>
                <a:gd fmla="val 3260" name="adj"/>
              </a:avLst>
            </a:prstGeom>
            <a:solidFill>
              <a:srgbClr val="065A82">
                <a:alpha val="85098"/>
              </a:srgbClr>
            </a:solidFill>
            <a:ln cap="flat" cmpd="sng" w="12675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120777" y="216027"/>
              <a:ext cx="425100" cy="425100"/>
            </a:xfrm>
            <a:prstGeom prst="ellipse">
              <a:avLst/>
            </a:prstGeom>
            <a:solidFill>
              <a:srgbClr val="F9A8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9"/>
            <p:cNvSpPr txBox="1"/>
            <p:nvPr/>
          </p:nvSpPr>
          <p:spPr>
            <a:xfrm>
              <a:off x="228600" y="285750"/>
              <a:ext cx="209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endParaRPr b="1" i="0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66" name="Google Shape;266;p9"/>
            <p:cNvSpPr txBox="1"/>
            <p:nvPr/>
          </p:nvSpPr>
          <p:spPr>
            <a:xfrm>
              <a:off x="190500" y="809625"/>
              <a:ext cx="2143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Business Viability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Market scalability, identification of active funding pathways, and validity of the business model presentation over pure code.</a:t>
              </a:r>
              <a:endParaRPr b="0" i="0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9"/>
          <p:cNvSpPr/>
          <p:nvPr/>
        </p:nvSpPr>
        <p:spPr>
          <a:xfrm>
            <a:off x="8593074" y="480060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0"/>
          <p:cNvPicPr preferRelativeResize="0"/>
          <p:nvPr/>
        </p:nvPicPr>
        <p:blipFill rotWithShape="1">
          <a:blip r:embed="rId3">
            <a:alphaModFix/>
          </a:blip>
          <a:srcRect b="30229" l="0" r="0" t="30229"/>
          <a:stretch/>
        </p:blipFill>
        <p:spPr>
          <a:xfrm>
            <a:off x="0" y="0"/>
            <a:ext cx="2341500" cy="52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0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7176649" y="0"/>
            <a:ext cx="1827901" cy="57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10"/>
          <p:cNvGrpSpPr/>
          <p:nvPr/>
        </p:nvGrpSpPr>
        <p:grpSpPr>
          <a:xfrm>
            <a:off x="411480" y="548640"/>
            <a:ext cx="6858000" cy="619200"/>
            <a:chOff x="0" y="0"/>
            <a:chExt cx="6858000" cy="619200"/>
          </a:xfrm>
        </p:grpSpPr>
        <p:sp>
          <p:nvSpPr>
            <p:cNvPr id="275" name="Google Shape;275;p10"/>
            <p:cNvSpPr txBox="1"/>
            <p:nvPr/>
          </p:nvSpPr>
          <p:spPr>
            <a:xfrm>
              <a:off x="0" y="0"/>
              <a:ext cx="685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Business Model</a:t>
              </a:r>
              <a:endParaRPr b="1" i="0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76" name="Google Shape;276;p10"/>
            <p:cNvSpPr txBox="1"/>
            <p:nvPr/>
          </p:nvSpPr>
          <p:spPr>
            <a:xfrm>
              <a:off x="0" y="381000"/>
              <a:ext cx="6858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Every Team's Pitch Must Cover </a:t>
              </a:r>
              <a:r>
                <a:rPr b="0" i="1" lang="en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(Sequoia Capital Pitch Deck Framework)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10"/>
          <p:cNvGrpSpPr/>
          <p:nvPr/>
        </p:nvGrpSpPr>
        <p:grpSpPr>
          <a:xfrm>
            <a:off x="411480" y="1524000"/>
            <a:ext cx="1524000" cy="2476500"/>
            <a:chOff x="0" y="0"/>
            <a:chExt cx="1524000" cy="2476500"/>
          </a:xfrm>
        </p:grpSpPr>
        <p:sp>
          <p:nvSpPr>
            <p:cNvPr id="278" name="Google Shape;278;p10"/>
            <p:cNvSpPr/>
            <p:nvPr/>
          </p:nvSpPr>
          <p:spPr>
            <a:xfrm>
              <a:off x="0" y="0"/>
              <a:ext cx="1524000" cy="2476500"/>
            </a:xfrm>
            <a:prstGeom prst="roundRect">
              <a:avLst>
                <a:gd fmla="val 5000" name="adj"/>
              </a:avLst>
            </a:prstGeom>
            <a:solidFill>
              <a:srgbClr val="065A82">
                <a:alpha val="85098"/>
              </a:srgbClr>
            </a:solidFill>
            <a:ln cap="flat" cmpd="sng" w="12375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114300" y="114300"/>
              <a:ext cx="381000" cy="381000"/>
            </a:xfrm>
            <a:prstGeom prst="ellipse">
              <a:avLst/>
            </a:prstGeom>
            <a:solidFill>
              <a:srgbClr val="F9A8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0"/>
            <p:cNvSpPr txBox="1"/>
            <p:nvPr/>
          </p:nvSpPr>
          <p:spPr>
            <a:xfrm>
              <a:off x="114300" y="11430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endPara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81" name="Google Shape;281;p10"/>
            <p:cNvSpPr txBox="1"/>
            <p:nvPr/>
          </p:nvSpPr>
          <p:spPr>
            <a:xfrm>
              <a:off x="152400" y="666750"/>
              <a:ext cx="1219200" cy="16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Revenue Model</a:t>
              </a:r>
              <a:endPara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How the idea makes money — subscription, freemium, transaction fee, or licensing.</a:t>
              </a:r>
              <a:endParaRPr b="0" i="0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0"/>
          <p:cNvGrpSpPr/>
          <p:nvPr/>
        </p:nvGrpSpPr>
        <p:grpSpPr>
          <a:xfrm>
            <a:off x="2095500" y="1524000"/>
            <a:ext cx="2476500" cy="2476500"/>
            <a:chOff x="0" y="0"/>
            <a:chExt cx="2476500" cy="2476500"/>
          </a:xfrm>
        </p:grpSpPr>
        <p:sp>
          <p:nvSpPr>
            <p:cNvPr id="283" name="Google Shape;283;p10"/>
            <p:cNvSpPr/>
            <p:nvPr/>
          </p:nvSpPr>
          <p:spPr>
            <a:xfrm>
              <a:off x="0" y="0"/>
              <a:ext cx="1524000" cy="2476500"/>
            </a:xfrm>
            <a:prstGeom prst="roundRect">
              <a:avLst>
                <a:gd fmla="val 5000" name="adj"/>
              </a:avLst>
            </a:prstGeom>
            <a:solidFill>
              <a:srgbClr val="065A82">
                <a:alpha val="85098"/>
              </a:srgbClr>
            </a:solidFill>
            <a:ln cap="flat" cmpd="sng" w="12375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114300" y="114300"/>
              <a:ext cx="381000" cy="381000"/>
            </a:xfrm>
            <a:prstGeom prst="ellipse">
              <a:avLst/>
            </a:prstGeom>
            <a:solidFill>
              <a:srgbClr val="F9A8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0"/>
            <p:cNvSpPr txBox="1"/>
            <p:nvPr/>
          </p:nvSpPr>
          <p:spPr>
            <a:xfrm>
              <a:off x="2095500" y="163830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endPara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152400" y="666750"/>
              <a:ext cx="1219200" cy="16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Pricing</a:t>
              </a:r>
              <a:endPara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Price points per plan or tier, and why they fit the target customer.</a:t>
              </a:r>
              <a:endParaRPr b="0" i="0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10"/>
          <p:cNvGrpSpPr/>
          <p:nvPr/>
        </p:nvGrpSpPr>
        <p:grpSpPr>
          <a:xfrm>
            <a:off x="3779520" y="1524000"/>
            <a:ext cx="4160520" cy="2476500"/>
            <a:chOff x="0" y="0"/>
            <a:chExt cx="4160520" cy="2476500"/>
          </a:xfrm>
        </p:grpSpPr>
        <p:sp>
          <p:nvSpPr>
            <p:cNvPr id="288" name="Google Shape;288;p10"/>
            <p:cNvSpPr/>
            <p:nvPr/>
          </p:nvSpPr>
          <p:spPr>
            <a:xfrm>
              <a:off x="0" y="0"/>
              <a:ext cx="1524000" cy="2476500"/>
            </a:xfrm>
            <a:prstGeom prst="roundRect">
              <a:avLst>
                <a:gd fmla="val 5000" name="adj"/>
              </a:avLst>
            </a:prstGeom>
            <a:solidFill>
              <a:srgbClr val="065A82">
                <a:alpha val="85098"/>
              </a:srgbClr>
            </a:solidFill>
            <a:ln cap="flat" cmpd="sng" w="12375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114300" y="114300"/>
              <a:ext cx="381000" cy="381000"/>
            </a:xfrm>
            <a:prstGeom prst="ellipse">
              <a:avLst/>
            </a:prstGeom>
            <a:solidFill>
              <a:srgbClr val="F9A8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0"/>
            <p:cNvSpPr txBox="1"/>
            <p:nvPr/>
          </p:nvSpPr>
          <p:spPr>
            <a:xfrm>
              <a:off x="3779520" y="163830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endPara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91" name="Google Shape;291;p10"/>
            <p:cNvSpPr txBox="1"/>
            <p:nvPr/>
          </p:nvSpPr>
          <p:spPr>
            <a:xfrm>
              <a:off x="152400" y="666750"/>
              <a:ext cx="1219200" cy="16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Average Account Value &amp; LTV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Expected revenue per customer and estimated lifetime value.</a:t>
              </a:r>
              <a:endParaRPr b="0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10"/>
          <p:cNvGrpSpPr/>
          <p:nvPr/>
        </p:nvGrpSpPr>
        <p:grpSpPr>
          <a:xfrm>
            <a:off x="5463540" y="1524000"/>
            <a:ext cx="5844540" cy="2476500"/>
            <a:chOff x="0" y="0"/>
            <a:chExt cx="5844540" cy="2476500"/>
          </a:xfrm>
        </p:grpSpPr>
        <p:sp>
          <p:nvSpPr>
            <p:cNvPr id="293" name="Google Shape;293;p10"/>
            <p:cNvSpPr/>
            <p:nvPr/>
          </p:nvSpPr>
          <p:spPr>
            <a:xfrm>
              <a:off x="0" y="0"/>
              <a:ext cx="1524000" cy="2476500"/>
            </a:xfrm>
            <a:prstGeom prst="roundRect">
              <a:avLst>
                <a:gd fmla="val 5000" name="adj"/>
              </a:avLst>
            </a:prstGeom>
            <a:solidFill>
              <a:srgbClr val="065A82">
                <a:alpha val="85098"/>
              </a:srgbClr>
            </a:solidFill>
            <a:ln cap="flat" cmpd="sng" w="12375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114300" y="114300"/>
              <a:ext cx="381000" cy="381000"/>
            </a:xfrm>
            <a:prstGeom prst="ellipse">
              <a:avLst/>
            </a:prstGeom>
            <a:solidFill>
              <a:srgbClr val="F9A8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0"/>
            <p:cNvSpPr txBox="1"/>
            <p:nvPr/>
          </p:nvSpPr>
          <p:spPr>
            <a:xfrm>
              <a:off x="5463540" y="163830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4</a:t>
              </a:r>
              <a:endPara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96" name="Google Shape;296;p10"/>
            <p:cNvSpPr txBox="1"/>
            <p:nvPr/>
          </p:nvSpPr>
          <p:spPr>
            <a:xfrm>
              <a:off x="152400" y="666750"/>
              <a:ext cx="1219200" cy="16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Sales &amp; Distribution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How you'll reach, onboard &amp; retain customers — direct, partnerships, app stores.</a:t>
              </a:r>
              <a:endParaRPr b="0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10"/>
          <p:cNvGrpSpPr/>
          <p:nvPr/>
        </p:nvGrpSpPr>
        <p:grpSpPr>
          <a:xfrm>
            <a:off x="7147560" y="1524000"/>
            <a:ext cx="7528560" cy="2476500"/>
            <a:chOff x="0" y="0"/>
            <a:chExt cx="7528560" cy="2476500"/>
          </a:xfrm>
        </p:grpSpPr>
        <p:sp>
          <p:nvSpPr>
            <p:cNvPr id="298" name="Google Shape;298;p10"/>
            <p:cNvSpPr/>
            <p:nvPr/>
          </p:nvSpPr>
          <p:spPr>
            <a:xfrm>
              <a:off x="0" y="0"/>
              <a:ext cx="1524000" cy="2476500"/>
            </a:xfrm>
            <a:prstGeom prst="roundRect">
              <a:avLst>
                <a:gd fmla="val 5000" name="adj"/>
              </a:avLst>
            </a:prstGeom>
            <a:solidFill>
              <a:srgbClr val="065A82">
                <a:alpha val="85098"/>
              </a:srgbClr>
            </a:solidFill>
            <a:ln cap="flat" cmpd="sng" w="12375">
              <a:solidFill>
                <a:srgbClr val="1C72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0"/>
            <p:cNvSpPr/>
            <p:nvPr/>
          </p:nvSpPr>
          <p:spPr>
            <a:xfrm>
              <a:off x="114300" y="114300"/>
              <a:ext cx="381000" cy="381000"/>
            </a:xfrm>
            <a:prstGeom prst="ellipse">
              <a:avLst/>
            </a:prstGeom>
            <a:solidFill>
              <a:srgbClr val="F9A8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0"/>
            <p:cNvSpPr txBox="1"/>
            <p:nvPr/>
          </p:nvSpPr>
          <p:spPr>
            <a:xfrm>
              <a:off x="7147560" y="163830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5</a:t>
              </a:r>
              <a:endPara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301" name="Google Shape;301;p10"/>
            <p:cNvSpPr txBox="1"/>
            <p:nvPr/>
          </p:nvSpPr>
          <p:spPr>
            <a:xfrm>
              <a:off x="152400" y="666750"/>
              <a:ext cx="1219200" cy="16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Pipeline &amp; Traction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Target customers, early interest, pilot users, or LOIs already lined up.</a:t>
              </a:r>
              <a:endParaRPr b="0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/>
          <p:nvPr/>
        </p:nvSpPr>
        <p:spPr>
          <a:xfrm>
            <a:off x="411480" y="548640"/>
            <a:ext cx="6858000" cy="4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PROBLEM-1 Healthcare AI &amp; MedTech Platform</a:t>
            </a:r>
            <a:endParaRPr b="1" i="0" sz="2000" u="none" cap="none" strike="noStrike">
              <a:solidFill>
                <a:srgbClr val="2129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11480" y="973836"/>
            <a:ext cx="75438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AI-Powered Rural Diagnostic &amp; Patient Triage Platform</a:t>
            </a:r>
            <a:endParaRPr b="0" i="0" sz="10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11480" y="1440180"/>
            <a:ext cx="4011900" cy="3120300"/>
          </a:xfrm>
          <a:prstGeom prst="roundRect">
            <a:avLst>
              <a:gd fmla="val 263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1097280" y="1659636"/>
            <a:ext cx="315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85800" y="220141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891540" y="210540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Problem: Rural areas lack access to specialist doctors.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85800" y="257860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891540" y="248259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AI skin disease detection smartphone app.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85800" y="295579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891540" y="285978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Automated X-ray bone fracture detection tool.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685800" y="333298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891540" y="323697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Smart hospital queue and patient triage system.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685800" y="371017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891540" y="361416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Covered Artifacts: ML Guide &amp; Hospital Management Apps.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85800" y="408736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891540" y="399135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Focus: Diagnostic AI screeners and clinic SaaS networks.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697730" y="1440180"/>
            <a:ext cx="4011900" cy="3120300"/>
          </a:xfrm>
          <a:prstGeom prst="roundRect">
            <a:avLst>
              <a:gd fmla="val 2637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5383530" y="1659636"/>
            <a:ext cx="315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Deliverables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972050" y="220141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5177790" y="210540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Working medical image classifier or triage demo.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972050" y="257860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5177790" y="248259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Diagnostic safety and non-clinical disclaimer plan.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972050" y="295579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5177790" y="285978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System architecture and diagnostic pipeline diagram.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4972050" y="333298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5177790" y="323697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HIPAA and patient data privacy plan.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972050" y="371017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5177790" y="361416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Target customer definition (Hospitals, clinics, telehealth).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4972050" y="408736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5177790" y="399135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Pitch covering healthcare SaaS model and market.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8593074" y="480060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-Powered Coding Platform for Colleges with Placement ..." id="337" name="Google Shape;3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6654" y="0"/>
            <a:ext cx="1827901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338" name="Google Shape;338;p11"/>
          <p:cNvPicPr preferRelativeResize="0"/>
          <p:nvPr/>
        </p:nvPicPr>
        <p:blipFill rotWithShape="1">
          <a:blip r:embed="rId4">
            <a:alphaModFix/>
          </a:blip>
          <a:srcRect b="30760" l="0" r="0" t="29689"/>
          <a:stretch/>
        </p:blipFill>
        <p:spPr>
          <a:xfrm>
            <a:off x="0" y="-17297"/>
            <a:ext cx="2341419" cy="520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_laptop.png" id="339" name="Google Shape;33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510" y="168021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_tools.png" id="340" name="Google Shape;34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1680210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/>
          <p:nvPr/>
        </p:nvSpPr>
        <p:spPr>
          <a:xfrm>
            <a:off x="411480" y="548640"/>
            <a:ext cx="8126700" cy="4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PROBLEM-2 FinTech, Smart Retail &amp; Micro-Commerce</a:t>
            </a:r>
            <a:endParaRPr b="1" i="0" sz="2000" u="none" cap="none" strike="noStrike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411480" y="973836"/>
            <a:ext cx="75438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Micro-Merchant Inventory, POS Billing &amp; Retail Analytics</a:t>
            </a:r>
            <a:endParaRPr b="0" i="0" sz="1000" u="none" cap="none" strike="noStrike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11480" y="1440180"/>
            <a:ext cx="4011900" cy="3120300"/>
          </a:xfrm>
          <a:prstGeom prst="roundRect">
            <a:avLst>
              <a:gd fmla="val 263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1097280" y="1659636"/>
            <a:ext cx="315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685800" y="220141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685800" y="257860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685800" y="295579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685800" y="333298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685800" y="371017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685800" y="408736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891540" y="210540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Problem: Micro-merchants struggle with manual stock &amp; billing.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91540" y="248259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Kirana store inventory &amp; POS billing app.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891540" y="285978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AI-based stock price prediction learning dashboard.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891540" y="323697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High-scalability retail e-commerce platform database.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891540" y="361416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Covered Artifacts: Kirana Systems &amp; Financial Literacy Apps.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891540" y="399135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Focus: Retail automation, POS billing, and stock analytics.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4697730" y="1440180"/>
            <a:ext cx="4011900" cy="3120300"/>
          </a:xfrm>
          <a:prstGeom prst="roundRect">
            <a:avLst>
              <a:gd fmla="val 2637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5383530" y="1659636"/>
            <a:ext cx="315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Deliverables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4972050" y="220141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5177790" y="210540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Working retail POS or stock prediction demo.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4972050" y="257860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5177790" y="248259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Database schema and inventory transaction audit log.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4972050" y="295579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177790" y="285978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System architecture and payment flow diagram.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4972050" y="333298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5177790" y="323697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Target customer definition (Kirana stores, retail merchants).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4972050" y="371017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5177790" y="361416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Financial risk disclaimer and compliance plan.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4972050" y="408736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5177790" y="399135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Pitch covering revenue model and credit scoring.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8593074" y="480060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-Powered Coding Platform for Colleges with Placement ..." id="376" name="Google Shape;3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6654" y="0"/>
            <a:ext cx="1827901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377" name="Google Shape;377;p12"/>
          <p:cNvPicPr preferRelativeResize="0"/>
          <p:nvPr/>
        </p:nvPicPr>
        <p:blipFill rotWithShape="1">
          <a:blip r:embed="rId4">
            <a:alphaModFix/>
          </a:blip>
          <a:srcRect b="30760" l="0" r="0" t="29689"/>
          <a:stretch/>
        </p:blipFill>
        <p:spPr>
          <a:xfrm>
            <a:off x="0" y="-17297"/>
            <a:ext cx="2341419" cy="520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_laptop.png" id="378" name="Google Shape;37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510" y="168021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_tools.png" id="379" name="Google Shape;37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1680210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3"/>
          <p:cNvSpPr/>
          <p:nvPr/>
        </p:nvSpPr>
        <p:spPr>
          <a:xfrm>
            <a:off x="411480" y="548640"/>
            <a:ext cx="8298150" cy="4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PROBLEM-3 B2B Enterprise SaaS &amp; AI Workflow Agents</a:t>
            </a:r>
            <a:endParaRPr b="1" i="0" sz="2000" u="none" cap="none" strike="noStrike">
              <a:solidFill>
                <a:srgbClr val="2129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411480" y="973836"/>
            <a:ext cx="75438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Enterprise workflow automation, document analysis, and RAG AI agents.</a:t>
            </a:r>
            <a:endParaRPr b="0" i="0" sz="10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411480" y="1440180"/>
            <a:ext cx="4011900" cy="3120300"/>
          </a:xfrm>
          <a:prstGeom prst="roundRect">
            <a:avLst>
              <a:gd fmla="val 263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1097280" y="1659636"/>
            <a:ext cx="315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685800" y="220141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891540" y="210540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3"/>
              <a:buFont typeface="Arial"/>
              <a:buNone/>
            </a:pPr>
            <a:r>
              <a:rPr b="0" i="0" lang="en" sz="833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Problem: Enterprises waste hours analyzing unstructured PDFs &amp; code.</a:t>
            </a:r>
            <a:endParaRPr b="0" i="0" sz="833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685800" y="257860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891540" y="248259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RAG-powered document Q&amp;A (Chat with PDF).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685800" y="295579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891540" y="285978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Automated AI code reviewer and bug detector.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685800" y="333298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891540" y="323697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AI resume analyzer and skill gap scorer.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685800" y="371017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891540" y="361416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Covered Artifacts: DevOps Brief, SE, and YC Proposals.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685800" y="408736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891540" y="399135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Focus: Enterprise workflow automation and RAG AI agents.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4697730" y="1440180"/>
            <a:ext cx="4011900" cy="3120300"/>
          </a:xfrm>
          <a:prstGeom prst="roundRect">
            <a:avLst>
              <a:gd fmla="val 2637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5383530" y="1659636"/>
            <a:ext cx="315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Deliverables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4972050" y="220141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5177790" y="210540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Working RAG document Q&amp;A or code reviewer demo.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4972050" y="257860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5177790" y="248259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Vector DB and LLM pipeline architecture diagram.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4972050" y="295579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5177790" y="285978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Enterprise security and secret key handling plan.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4972050" y="333298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5177790" y="323697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Target customer definition (Corporate legal, HR, dev teams).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4972050" y="371017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5177790" y="361416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Data privacy and corporate security compliance plan.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4972050" y="408736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5177790" y="399135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Pitch covering SaaS seat-based pricing model.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8593074" y="480060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-Powered Coding Platform for Colleges with Placement ..." id="415" name="Google Shape;4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6654" y="0"/>
            <a:ext cx="1827901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416" name="Google Shape;416;p13"/>
          <p:cNvPicPr preferRelativeResize="0"/>
          <p:nvPr/>
        </p:nvPicPr>
        <p:blipFill rotWithShape="1">
          <a:blip r:embed="rId4">
            <a:alphaModFix/>
          </a:blip>
          <a:srcRect b="30760" l="0" r="0" t="29689"/>
          <a:stretch/>
        </p:blipFill>
        <p:spPr>
          <a:xfrm>
            <a:off x="0" y="-17297"/>
            <a:ext cx="2341419" cy="520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_laptop.png" id="417" name="Google Shape;41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510" y="168021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_tools.png" id="418" name="Google Shape;41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1680210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4"/>
          <p:cNvSpPr/>
          <p:nvPr/>
        </p:nvSpPr>
        <p:spPr>
          <a:xfrm>
            <a:off x="411479" y="548640"/>
            <a:ext cx="7684305" cy="4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PROBLEM-4 AgriTech, ClimateTech &amp; Sustainable Computing</a:t>
            </a:r>
            <a:endParaRPr b="1" i="0" sz="2000" u="none" cap="none" strike="noStrike">
              <a:solidFill>
                <a:srgbClr val="2129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411480" y="973836"/>
            <a:ext cx="75438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Precision agriculture, climate intelligence, and sustainable computing.</a:t>
            </a:r>
            <a:endParaRPr b="0" i="0" sz="10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411480" y="1440180"/>
            <a:ext cx="4011900" cy="3120300"/>
          </a:xfrm>
          <a:prstGeom prst="roundRect">
            <a:avLst>
              <a:gd fmla="val 263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1097280" y="1659636"/>
            <a:ext cx="315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685800" y="220141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891540" y="210540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3"/>
              <a:buFont typeface="Arial"/>
              <a:buNone/>
            </a:pPr>
            <a:r>
              <a:rPr b="0" i="0" lang="en" sz="833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Problem: Unpredictable climate causes crop loss; AI uses high energy.</a:t>
            </a:r>
            <a:endParaRPr b="0" i="0" sz="833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685800" y="257860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891540" y="248259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ML crop yield prediction and farming dashboard.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685800" y="295579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891540" y="285978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Cloud cost calculation &amp; energy token optimizer.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685800" y="333298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891540" y="323697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Vector calculus optimization for AI model data flow.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685800" y="371017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891540" y="361416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Covered Artifacts: ML Crop Yield &amp; Sustainable Energy.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685800" y="408736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891540" y="399135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Focus: Precision agriculture and green cloud computing.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4697730" y="1440180"/>
            <a:ext cx="4011900" cy="3120300"/>
          </a:xfrm>
          <a:prstGeom prst="roundRect">
            <a:avLst>
              <a:gd fmla="val 2637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5383530" y="1659636"/>
            <a:ext cx="315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Deliverables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4972050" y="220141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5177790" y="210540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Working crop yield predictor or cloud energy demo.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4972050" y="257860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5177790" y="248259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Analytical dataset and model evaluation metrics report.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4972050" y="295579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5177790" y="285978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System architecture and IoT data flow diagram.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4972050" y="333298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5177790" y="323697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3"/>
              <a:buFont typeface="Arial"/>
              <a:buNone/>
            </a:pPr>
            <a:r>
              <a:rPr b="0" i="0" lang="en" sz="833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Target customer definition (Farmers, agri-cooperatives, cloud managers).</a:t>
            </a:r>
            <a:endParaRPr b="0" i="0" sz="833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4972050" y="371017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5177790" y="361416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Environmental impact and ESG compliance report.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4972050" y="408736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5177790" y="399135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Pitch covering ESG grant alignment and commercial viability.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8593074" y="480060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-Powered Coding Platform for Colleges with Placement ..." id="454" name="Google Shape;4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6654" y="0"/>
            <a:ext cx="1827901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455" name="Google Shape;455;p14"/>
          <p:cNvPicPr preferRelativeResize="0"/>
          <p:nvPr/>
        </p:nvPicPr>
        <p:blipFill rotWithShape="1">
          <a:blip r:embed="rId4">
            <a:alphaModFix/>
          </a:blip>
          <a:srcRect b="30760" l="0" r="0" t="29689"/>
          <a:stretch/>
        </p:blipFill>
        <p:spPr>
          <a:xfrm>
            <a:off x="0" y="-17297"/>
            <a:ext cx="2341419" cy="520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_laptop.png" id="456" name="Google Shape;45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510" y="168021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_tools.png" id="457" name="Google Shape;45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1680210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5"/>
          <p:cNvSpPr/>
          <p:nvPr/>
        </p:nvSpPr>
        <p:spPr>
          <a:xfrm>
            <a:off x="411479" y="548640"/>
            <a:ext cx="7751214" cy="4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PROBLEM-5 Smart Cities, Mobility &amp; Next-Gen Consumer Tech</a:t>
            </a:r>
            <a:endParaRPr b="1" i="0" sz="2000" u="none" cap="none" strike="noStrike">
              <a:solidFill>
                <a:srgbClr val="2129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411480" y="973836"/>
            <a:ext cx="75438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Spatial fleet dispatching, smart campus solutions, and consumer tech.</a:t>
            </a:r>
            <a:endParaRPr b="0" i="0" sz="10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411480" y="1440180"/>
            <a:ext cx="4011900" cy="3120300"/>
          </a:xfrm>
          <a:prstGeom prst="roundRect">
            <a:avLst>
              <a:gd fmla="val 263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1097280" y="1659636"/>
            <a:ext cx="315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685800" y="220141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891540" y="210540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Problem: Urban traffic congestion causes fuel waste and delays.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685800" y="257860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891540" y="248259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Real-time spatial ride-sharing platform (Uber-like).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685800" y="295579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891540" y="285978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Integrated smart college ERP campus portal.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685800" y="333298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891540" y="323697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Movie streaming database &amp; SVG graphics engine.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685800" y="371017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891540" y="361416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Covered Artifacts: Ride-Sharing DB, College ERP, &amp; Netflix DB.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685800" y="4087368"/>
            <a:ext cx="96000" cy="9600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891540" y="399135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Focus: Spatial fleet dispatching and smart campus solutions.</a:t>
            </a:r>
            <a:endParaRPr b="0" i="0" sz="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4697730" y="1440180"/>
            <a:ext cx="4011900" cy="3120300"/>
          </a:xfrm>
          <a:prstGeom prst="roundRect">
            <a:avLst>
              <a:gd fmla="val 2637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5383530" y="1659636"/>
            <a:ext cx="315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Deliverables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4972050" y="220141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5177790" y="210540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Working spatial ride dispatcher or campus ERP demo.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4972050" y="257860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5177790" y="248259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Real-time spatial indexing and database schema design.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4972050" y="295579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5177790" y="285978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System architecture and dispatch flow diagram.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4972050" y="333298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5177790" y="323697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Target customer definition (Commuters, fleet operators, universities).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4972050" y="371017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5177790" y="361416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User data privacy and latency performance benchmarks.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4972050" y="4087368"/>
            <a:ext cx="96000" cy="96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5177790" y="3991356"/>
            <a:ext cx="3360300" cy="30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Pitch covering market differentiation and expansion strategy.</a:t>
            </a:r>
            <a:endParaRPr b="0" i="0" sz="900" u="none" cap="none" strike="noStrike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8593074" y="480060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-Powered Coding Platform for Colleges with Placement ..." id="493" name="Google Shape;4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6654" y="0"/>
            <a:ext cx="1827901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494" name="Google Shape;494;p15"/>
          <p:cNvPicPr preferRelativeResize="0"/>
          <p:nvPr/>
        </p:nvPicPr>
        <p:blipFill rotWithShape="1">
          <a:blip r:embed="rId4">
            <a:alphaModFix/>
          </a:blip>
          <a:srcRect b="30760" l="0" r="0" t="29689"/>
          <a:stretch/>
        </p:blipFill>
        <p:spPr>
          <a:xfrm>
            <a:off x="0" y="-17297"/>
            <a:ext cx="2341419" cy="520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_laptop.png" id="495" name="Google Shape;49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510" y="168021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_tools.png" id="496" name="Google Shape;49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1680210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_rocket.png" id="502" name="Google Shape;5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7957" y="116586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6"/>
          <p:cNvSpPr/>
          <p:nvPr/>
        </p:nvSpPr>
        <p:spPr>
          <a:xfrm>
            <a:off x="0" y="2057400"/>
            <a:ext cx="914171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Ready to Pitch Your Startup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0" y="2674620"/>
            <a:ext cx="91417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Choose your idea, build your MVP, and pitch with confidence.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0" y="3840480"/>
            <a:ext cx="91417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Questions  •  Discussion  •  Team Formation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859307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-Powered Coding Platform for Colleges with Placement ..." id="507" name="Google Shape;5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6654" y="0"/>
            <a:ext cx="1827899" cy="57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G University Announces Admissions Open for 2025-26 Academic Year" id="508" name="Google Shape;508;p16"/>
          <p:cNvPicPr preferRelativeResize="0"/>
          <p:nvPr/>
        </p:nvPicPr>
        <p:blipFill rotWithShape="1">
          <a:blip r:embed="rId5">
            <a:alphaModFix/>
          </a:blip>
          <a:srcRect b="30760" l="0" r="0" t="29689"/>
          <a:stretch/>
        </p:blipFill>
        <p:spPr>
          <a:xfrm>
            <a:off x="0" y="-17297"/>
            <a:ext cx="2341418" cy="52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
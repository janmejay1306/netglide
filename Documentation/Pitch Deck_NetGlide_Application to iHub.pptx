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embeddedFontLs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Lato Black" panose="020F0802020204030203"/>
      <p:bold r:id="rId25"/>
      <p:boldItalic r:id="rId26"/>
    </p:embeddedFont>
    <p:embeddedFont>
      <p:font typeface="Lato" panose="020F0502020204030203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382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Google Shape;70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81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0ff00bf59_1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e0ff00bf59_1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g2e0ff00bf59_1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1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0ff00bf59_1_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2e0ff00bf59_1_1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g2e0ff00bf59_1_1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0_Custom Layout">
  <p:cSld name="40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/>
          <p:nvPr/>
        </p:nvSpPr>
        <p:spPr>
          <a:xfrm>
            <a:off x="0" y="1428299"/>
            <a:ext cx="1711234" cy="44369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ustom Layout">
  <p:cSld name="1_Custom Layou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/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4_Custom Layout">
  <p:cSld name="124_Custom Layou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/>
          <p:nvPr/>
        </p:nvSpPr>
        <p:spPr>
          <a:xfrm>
            <a:off x="0" y="0"/>
            <a:ext cx="12192000" cy="648788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3"/>
          <p:cNvGrpSpPr/>
          <p:nvPr/>
        </p:nvGrpSpPr>
        <p:grpSpPr>
          <a:xfrm rot="10800000">
            <a:off x="11858328" y="148422"/>
            <a:ext cx="332874" cy="590718"/>
            <a:chOff x="10026" y="148425"/>
            <a:chExt cx="332874" cy="590718"/>
          </a:xfrm>
        </p:grpSpPr>
        <p:sp>
          <p:nvSpPr>
            <p:cNvPr id="11" name="Google Shape;11;p13"/>
            <p:cNvSpPr/>
            <p:nvPr/>
          </p:nvSpPr>
          <p:spPr>
            <a:xfrm>
              <a:off x="10026" y="148428"/>
              <a:ext cx="203334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12;p13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" name="Google Shape;13;p1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E6E6E6">
              <a:alpha val="2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13"/>
          <p:cNvSpPr txBox="1"/>
          <p:nvPr/>
        </p:nvSpPr>
        <p:spPr>
          <a:xfrm>
            <a:off x="11292841" y="6528300"/>
            <a:ext cx="7994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8000" b="0" i="0" u="none" strike="noStrike" cap="none">
              <a:solidFill>
                <a:schemeClr val="accen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 txBox="1"/>
          <p:nvPr>
            <p:ph type="title"/>
          </p:nvPr>
        </p:nvSpPr>
        <p:spPr>
          <a:xfrm>
            <a:off x="542109" y="25782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ato Black" panose="020F0802020204030203"/>
              <a:buNone/>
            </a:pPr>
            <a:r>
              <a:rPr lang="en-US" sz="3200" b="1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Application to i-Hub</a:t>
            </a:r>
            <a:br>
              <a:rPr lang="en-US" sz="3200" b="1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</a:br>
            <a:endParaRPr sz="3200" b="1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542109" y="3704862"/>
            <a:ext cx="10515600" cy="206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 Black" panose="020F0802020204030203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Startup/ Project / Team Name: NetGlide</a:t>
            </a:r>
            <a:br>
              <a:rPr 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</a:br>
            <a:br>
              <a:rPr 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</a:br>
            <a:endParaRPr sz="1800" b="0" i="0" u="none" strike="noStrike" cap="none">
              <a:solidFill>
                <a:srgbClr val="595959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 Black" panose="020F0802020204030203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Applicant/Founder Name: Janmejay Acharya</a:t>
            </a:r>
            <a:br>
              <a:rPr 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</a:br>
            <a:r>
              <a:rPr 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Mobile No: 9104620244</a:t>
            </a:r>
            <a:endParaRPr lang="en-US" sz="1800" b="0" i="0" u="none" strike="noStrike" cap="none">
              <a:solidFill>
                <a:srgbClr val="595959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 Black" panose="020F0802020204030203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Email Id:janmejay.acharya2006@gmail.com</a:t>
            </a:r>
            <a:endParaRPr lang="en-US" sz="1800" b="0" i="0" u="none" strike="noStrike" cap="none">
              <a:solidFill>
                <a:srgbClr val="595959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 Black" panose="020F0802020204030203"/>
              <a:buNone/>
            </a:pPr>
            <a:r>
              <a:rPr 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Website: </a:t>
            </a:r>
            <a:r>
              <a:rPr lang="en-US" altLang="en-US" sz="1800" b="0" i="0" u="none" strike="noStrike" cap="none">
                <a:solidFill>
                  <a:srgbClr val="595959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https://netglide.in</a:t>
            </a:r>
            <a:endParaRPr lang="en-US" altLang="en-US" sz="1800" b="0" i="0" u="none" strike="noStrike" cap="none">
              <a:solidFill>
                <a:srgbClr val="595959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654616" y="611348"/>
            <a:ext cx="1710070" cy="735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6589" y="0"/>
            <a:ext cx="1958026" cy="195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444350" y="226598"/>
            <a:ext cx="6099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Elevator Pitch </a:t>
            </a:r>
            <a:r>
              <a:rPr lang="en-US" sz="1900" b="1" i="0" u="none" strike="noStrike" cap="none">
                <a:solidFill>
                  <a:schemeClr val="dk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(Not more than 50-70 words)</a:t>
            </a:r>
            <a:endParaRPr sz="1900" b="1" i="0" u="none" strike="noStrike" cap="none">
              <a:solidFill>
                <a:schemeClr val="dk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40" name="Google Shape;40;p2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41" name="Google Shape;41;p2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3" name="Google Shape;43;p2"/>
          <p:cNvSpPr/>
          <p:nvPr/>
        </p:nvSpPr>
        <p:spPr>
          <a:xfrm>
            <a:off x="691883" y="1435205"/>
            <a:ext cx="9810654" cy="193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0" i="0" u="none" strike="noStrike" cap="none">
                <a:solidFill>
                  <a:schemeClr val="tx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Colleges and companies still force users to work inside generic browsers that either block access or leak sensitive activity. NetGlide is a secure, institution-controlled browser built for environments where privacy and oversight both matter. It personalizes the experience by role, works inside restricted networks, and keeps all monitoring data completely private — never leaving the organization.</a:t>
            </a:r>
            <a:endParaRPr lang="en-US" altLang="en-US" sz="2000" b="0" i="0" u="none" strike="noStrike" cap="none">
              <a:solidFill>
                <a:schemeClr val="tx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Problem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51" name="Google Shape;51;p3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52" name="Google Shape;52;p3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4" name="Google Shape;54;p3"/>
          <p:cNvSpPr/>
          <p:nvPr/>
        </p:nvSpPr>
        <p:spPr>
          <a:xfrm>
            <a:off x="691883" y="1435205"/>
            <a:ext cx="9810654" cy="378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Students and employees lose time to blocked sites, restricted portals, and constant IT friction.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Institutions and companies have almost no private visibility into internal browsing activity.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Mainstream browsers (Chrome, Edge, Opera) are designed for consumers, not for secure institutional or corporate environments.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Existing monitoring tools either invade privacy or push sensitive data to external servers.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This creates a daily gap for colleges, schools, and private organizations that handle confidential work.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55" name="Google Shape;55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Solution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62" name="Google Shape;62;p4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63" name="Google Shape;63;p4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5" name="Google Shape;65;p4"/>
          <p:cNvSpPr/>
          <p:nvPr/>
        </p:nvSpPr>
        <p:spPr>
          <a:xfrm>
            <a:off x="691883" y="1435205"/>
            <a:ext cx="9810654" cy="378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NetGlide is a purpose-built secure browser for institutions and companies that need control without compromise.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US" altLang="en-US" sz="2000" b="1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It is designed to:</a:t>
            </a:r>
            <a:endParaRPr lang="en-US" altLang="en-US" sz="2000" b="1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Work inside restricted / campus / corporate networks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Personalize experience by role (Student, Faculty, Employee, Legal, Finance, Admin)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Provide private internal monitoring for authorized administrators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Keep all activity data inside the organization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 external tracking. No third-party analytics. Built for privacy-sensitive environments.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Product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74" name="Google Shape;74;p5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76" name="Google Shape;76;p5"/>
          <p:cNvSpPr/>
          <p:nvPr/>
        </p:nvSpPr>
        <p:spPr>
          <a:xfrm>
            <a:off x="691883" y="1435205"/>
            <a:ext cx="9810654" cy="378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Working MVP already developed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Key capabilities: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Role-based personalization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Secure internal browsing experience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Private institutional / company monitoring dashboard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Workspaces, bookmarks, history and controlled settings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Lightweight architecture suitable for labs and office systems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Live presence: netglide.in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77" name="Google Shape;77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Unique Selling Proposition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85" name="Google Shape;85;p6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87" name="Google Shape;87;p6"/>
          <p:cNvSpPr/>
          <p:nvPr/>
        </p:nvSpPr>
        <p:spPr>
          <a:xfrm>
            <a:off x="691883" y="1435205"/>
            <a:ext cx="9810654" cy="230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700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Built for both education institutions and private companies that need secure internal control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700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Dual value: better user experience + private organizational oversight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700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Zero external data collection — monitoring stays fully inside the organization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700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Role-based experience not offered by mainstream browsers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700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Already exists as a working product, not just a concept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381000" y="243235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Market Opportunity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95" name="Google Shape;95;p7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96" name="Google Shape;96;p7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8" name="Google Shape;98;p7"/>
          <p:cNvSpPr/>
          <p:nvPr/>
        </p:nvSpPr>
        <p:spPr>
          <a:xfrm>
            <a:off x="691883" y="1435205"/>
            <a:ext cx="9810654" cy="500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Two clear markets: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Education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40,000+ colleges and schools in India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40+ million students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Strong need for campus control + student productivity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Private Companies / Secure Workplaces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Organizations handling confidential data, legal work, finance, research, and internal operations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Growing demand for private, controlled browsing environments without external leakage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19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Almost no product currently serves both segments with a privacy-first institutional model.</a:t>
            </a:r>
            <a:endParaRPr lang="en-US" altLang="en-US" sz="19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/>
        </p:nvSpPr>
        <p:spPr>
          <a:xfrm>
            <a:off x="381000" y="243235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Competitors and Competitive Advantage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106" name="Google Shape;106;p8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107" name="Google Shape;107;p8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9" name="Google Shape;109;p8"/>
          <p:cNvSpPr/>
          <p:nvPr/>
        </p:nvSpPr>
        <p:spPr>
          <a:xfrm>
            <a:off x="691883" y="1435205"/>
            <a:ext cx="9810654" cy="4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Primary competitors: Google Chrome, Microsoft Edge, Opera GX, and generic enterprise monitoring tools.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NetGlide is different because: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Designed for restricted institutional and corporate networks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Role-based personalization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Private monitoring that never leaves the organization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Suitable for both education and security-sensitive private companies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This is not another consumer browser.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It is an institutional secure browsing layer.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0ff00bf59_1_0"/>
          <p:cNvSpPr txBox="1"/>
          <p:nvPr/>
        </p:nvSpPr>
        <p:spPr>
          <a:xfrm>
            <a:off x="381000" y="243225"/>
            <a:ext cx="96900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Recommendation from Industry / Academia Expert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117" name="Google Shape;117;g2e0ff00bf59_1_0"/>
          <p:cNvGrpSpPr/>
          <p:nvPr/>
        </p:nvGrpSpPr>
        <p:grpSpPr>
          <a:xfrm>
            <a:off x="0" y="148425"/>
            <a:ext cx="342960" cy="590700"/>
            <a:chOff x="0" y="148425"/>
            <a:chExt cx="342960" cy="590700"/>
          </a:xfrm>
        </p:grpSpPr>
        <p:sp>
          <p:nvSpPr>
            <p:cNvPr id="118" name="Google Shape;118;g2e0ff00bf59_1_0"/>
            <p:cNvSpPr/>
            <p:nvPr/>
          </p:nvSpPr>
          <p:spPr>
            <a:xfrm>
              <a:off x="0" y="148425"/>
              <a:ext cx="213300" cy="590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" name="Google Shape;119;g2e0ff00bf59_1_0"/>
            <p:cNvSpPr/>
            <p:nvPr/>
          </p:nvSpPr>
          <p:spPr>
            <a:xfrm>
              <a:off x="251460" y="148425"/>
              <a:ext cx="91500" cy="5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0" name="Google Shape;120;g2e0ff00bf59_1_0"/>
          <p:cNvSpPr/>
          <p:nvPr/>
        </p:nvSpPr>
        <p:spPr>
          <a:xfrm>
            <a:off x="691883" y="1435205"/>
            <a:ext cx="98106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B2B Institutional &amp; Enterprise Licensing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Annual Institutional License (colleges / schools)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Department or Team License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Private Company / Enterprise License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Free pilot → paid conversion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Premium features: custom branding, access controls, advanced private analytics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21" name="Google Shape;121;g2e0ff00bf59_1_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/>
        </p:nvSpPr>
        <p:spPr>
          <a:xfrm>
            <a:off x="381000" y="243235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Business Model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128" name="Google Shape;128;p9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129" name="Google Shape;129;p9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1" name="Google Shape;131;p9"/>
          <p:cNvSpPr/>
          <p:nvPr/>
        </p:nvSpPr>
        <p:spPr>
          <a:xfrm>
            <a:off x="691883" y="1435205"/>
            <a:ext cx="9810654" cy="193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Mentorship on institutional and enterprise sales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Access to colleges, schools, and private organizations for pilots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Support for IP / trademark protection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Pathways to seed grants and incubation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</a:pPr>
            <a:r>
              <a:rPr lang="en-US" altLang="en-US" sz="2000" b="0" i="0" u="none" strike="noStrike" cap="none">
                <a:solidFill>
                  <a:schemeClr val="dk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Introductions to decision makers in education and secure enterprise environments</a:t>
            </a:r>
            <a:endParaRPr lang="en-US" altLang="en-US" sz="2000" b="0" i="0" u="none" strike="noStrike" cap="none"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/>
        </p:nvSpPr>
        <p:spPr>
          <a:xfrm>
            <a:off x="381000" y="243235"/>
            <a:ext cx="8284029" cy="4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Business Model Canvas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139" name="Google Shape;139;p10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140" name="Google Shape;140;p10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44" name="Google Shape;144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ChatGPT Image Aug 9, 2026, 03_27_57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025" y="809625"/>
            <a:ext cx="8489950" cy="541845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/>
        </p:nvSpPr>
        <p:spPr>
          <a:xfrm>
            <a:off x="381000" y="243235"/>
            <a:ext cx="74307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Your </a:t>
            </a:r>
            <a:r>
              <a:rPr lang="en-US" sz="3200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e</a:t>
            </a: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xpectations from i-Hub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151" name="Google Shape;151;p11"/>
          <p:cNvGrpSpPr/>
          <p:nvPr/>
        </p:nvGrpSpPr>
        <p:grpSpPr>
          <a:xfrm>
            <a:off x="0" y="148425"/>
            <a:ext cx="342960" cy="590700"/>
            <a:chOff x="0" y="148425"/>
            <a:chExt cx="342960" cy="590700"/>
          </a:xfrm>
        </p:grpSpPr>
        <p:sp>
          <p:nvSpPr>
            <p:cNvPr id="152" name="Google Shape;152;p11"/>
            <p:cNvSpPr/>
            <p:nvPr/>
          </p:nvSpPr>
          <p:spPr>
            <a:xfrm>
              <a:off x="0" y="148425"/>
              <a:ext cx="213300" cy="590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251460" y="148425"/>
              <a:ext cx="91500" cy="5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54" name="Google Shape;154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69595" y="930910"/>
            <a:ext cx="10504170" cy="519874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Mentorship on institutional and enterprise sales strategy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Access to colleges, universities and private companies for structured pilots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Guidance on product packaging, pricing and go-to-market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Support for trademark / IP protection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Pathways to relevant grants and seed opportunities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Introductions to decision makers in education and secure enterprise segments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Credibility and network support to help NetGlide move from MVP to early institutional adoption</a:t>
            </a:r>
            <a:endParaRPr lang="en-US" altLang="zh-CN" sz="200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Team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161" name="Google Shape;161;p12"/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162" name="Google Shape;162;p12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3" name="Google Shape;163;p12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64" name="Google Shape;164;p1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508000" y="739775"/>
            <a:ext cx="10850880" cy="611759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500"/>
              <a:t>Janmejay Acharya – Founder &amp; Product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B.Tech Information Technology, JG University</a:t>
            </a:r>
            <a:endParaRPr lang="en-US" altLang="en-US" sz="1500"/>
          </a:p>
          <a:p>
            <a:r>
              <a:rPr lang="en-US" altLang="en-US" sz="1500"/>
              <a:t>Built the complete working MVP of NetGlide</a:t>
            </a:r>
            <a:endParaRPr lang="en-US" altLang="en-US" sz="1500"/>
          </a:p>
          <a:p>
            <a:r>
              <a:rPr lang="en-US" altLang="en-US" sz="1500"/>
              <a:t>Leads product vision, development, and institutional outreach</a:t>
            </a:r>
            <a:endParaRPr lang="en-US" altLang="en-US" sz="1500"/>
          </a:p>
          <a:p>
            <a:r>
              <a:rPr lang="en-US" altLang="en-US" sz="1500"/>
              <a:t>Website &amp; desktop application: netglide.in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 b="1"/>
              <a:t>Kapil – Full Stack Developer</a:t>
            </a:r>
            <a:endParaRPr lang="en-US" altLang="en-US" sz="1500" b="1"/>
          </a:p>
          <a:p>
            <a:endParaRPr lang="en-US" altLang="en-US" sz="1500"/>
          </a:p>
          <a:p>
            <a:r>
              <a:rPr lang="en-US" altLang="en-US" sz="1500"/>
              <a:t>Handles full stack development of NetGlide</a:t>
            </a:r>
            <a:endParaRPr lang="en-US" altLang="en-US" sz="1500"/>
          </a:p>
          <a:p>
            <a:r>
              <a:rPr lang="en-US" altLang="en-US" sz="1500"/>
              <a:t>Works on core features, integrations, and overall system stability</a:t>
            </a:r>
            <a:endParaRPr lang="en-US" altLang="en-US" sz="1500"/>
          </a:p>
          <a:p>
            <a:r>
              <a:rPr lang="en-US" altLang="en-US" sz="1500"/>
              <a:t>Supports both frontend and backend development needs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 b="1"/>
              <a:t>Om Goswami – Development Support</a:t>
            </a:r>
            <a:endParaRPr lang="en-US" altLang="en-US" sz="1500" b="1"/>
          </a:p>
          <a:p>
            <a:endParaRPr lang="en-US" altLang="en-US" sz="1500"/>
          </a:p>
          <a:p>
            <a:r>
              <a:rPr lang="en-US" altLang="en-US" sz="1500"/>
              <a:t>Supports product development and feature implementation</a:t>
            </a:r>
            <a:endParaRPr lang="en-US" altLang="en-US" sz="1500"/>
          </a:p>
          <a:p>
            <a:r>
              <a:rPr lang="en-US" altLang="en-US" sz="1500"/>
              <a:t>Assists in testing, improvements, and overall execution</a:t>
            </a:r>
            <a:endParaRPr lang="en-US" altLang="en-US" sz="1500"/>
          </a:p>
          <a:p>
            <a:r>
              <a:rPr lang="en-US" altLang="en-US" sz="1500"/>
              <a:t>Helps keep the product stable for pilot use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 b="1"/>
              <a:t>Current Stage</a:t>
            </a:r>
            <a:r>
              <a:rPr lang="en-US" altLang="en-US" sz="1500"/>
              <a:t>: Working MVP ready for institutional and company pilots</a:t>
            </a:r>
            <a:endParaRPr lang="en-US" altLang="en-US" sz="1500"/>
          </a:p>
          <a:p>
            <a:r>
              <a:rPr lang="en-US" altLang="en-US" sz="1500"/>
              <a:t>Team Focus:</a:t>
            </a:r>
            <a:endParaRPr lang="en-US" altLang="en-US" sz="1500"/>
          </a:p>
          <a:p>
            <a:endParaRPr lang="en-US" altLang="en-US" sz="1500"/>
          </a:p>
          <a:p>
            <a:r>
              <a:rPr lang="en-US" altLang="en-US" sz="1500"/>
              <a:t>Run free pilots with colleges and private companies</a:t>
            </a:r>
            <a:endParaRPr lang="en-US" altLang="en-US" sz="1500"/>
          </a:p>
          <a:p>
            <a:r>
              <a:rPr lang="en-US" altLang="en-US" sz="1500"/>
              <a:t>Improve product based on real feedback</a:t>
            </a:r>
            <a:endParaRPr lang="en-US" altLang="en-US" sz="1500"/>
          </a:p>
          <a:p>
            <a:r>
              <a:rPr lang="en-US" altLang="en-US" sz="1500"/>
              <a:t>Convert early pilots into paid licenses</a:t>
            </a:r>
            <a:endParaRPr lang="en-US" altLang="en-US" sz="150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0ff00bf59_1_10"/>
          <p:cNvSpPr txBox="1"/>
          <p:nvPr/>
        </p:nvSpPr>
        <p:spPr>
          <a:xfrm>
            <a:off x="381000" y="243235"/>
            <a:ext cx="8283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US" sz="3200">
                <a:solidFill>
                  <a:schemeClr val="accent1"/>
                </a:solidFill>
                <a:latin typeface="Lato Black" panose="020F0802020204030203"/>
                <a:ea typeface="Lato Black" panose="020F0802020204030203"/>
                <a:cs typeface="Lato Black" panose="020F0802020204030203"/>
                <a:sym typeface="Lato Black" panose="020F0802020204030203"/>
              </a:rPr>
              <a:t>Budget Plan</a:t>
            </a:r>
            <a:endParaRPr sz="3200" b="0" i="0" u="none" strike="noStrike" cap="none">
              <a:solidFill>
                <a:schemeClr val="accent1"/>
              </a:solidFill>
              <a:latin typeface="Lato Black" panose="020F0802020204030203"/>
              <a:ea typeface="Lato Black" panose="020F0802020204030203"/>
              <a:cs typeface="Lato Black" panose="020F0802020204030203"/>
              <a:sym typeface="Lato Black" panose="020F0802020204030203"/>
            </a:endParaRPr>
          </a:p>
        </p:txBody>
      </p:sp>
      <p:grpSp>
        <p:nvGrpSpPr>
          <p:cNvPr id="171" name="Google Shape;171;g2e0ff00bf59_1_10"/>
          <p:cNvGrpSpPr/>
          <p:nvPr/>
        </p:nvGrpSpPr>
        <p:grpSpPr>
          <a:xfrm>
            <a:off x="0" y="148425"/>
            <a:ext cx="342960" cy="590700"/>
            <a:chOff x="0" y="148425"/>
            <a:chExt cx="342960" cy="590700"/>
          </a:xfrm>
        </p:grpSpPr>
        <p:sp>
          <p:nvSpPr>
            <p:cNvPr id="172" name="Google Shape;172;g2e0ff00bf59_1_10"/>
            <p:cNvSpPr/>
            <p:nvPr/>
          </p:nvSpPr>
          <p:spPr>
            <a:xfrm>
              <a:off x="0" y="148425"/>
              <a:ext cx="213300" cy="590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3" name="Google Shape;173;g2e0ff00bf59_1_10"/>
            <p:cNvSpPr/>
            <p:nvPr/>
          </p:nvSpPr>
          <p:spPr>
            <a:xfrm>
              <a:off x="251460" y="148425"/>
              <a:ext cx="91500" cy="5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74" name="Google Shape;174;g2e0ff00bf59_1_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63500" y="253488"/>
            <a:ext cx="1028156" cy="4421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/>
          <p:cNvGraphicFramePr/>
          <p:nvPr/>
        </p:nvGraphicFramePr>
        <p:xfrm>
          <a:off x="1821180" y="1035685"/>
          <a:ext cx="8399145" cy="4865370"/>
        </p:xfrm>
        <a:graphic>
          <a:graphicData uri="http://schemas.openxmlformats.org/drawingml/2006/table">
            <a:tbl>
              <a:tblPr/>
              <a:tblGrid>
                <a:gridCol w="572770"/>
                <a:gridCol w="1835785"/>
                <a:gridCol w="3059430"/>
                <a:gridCol w="2931160"/>
              </a:tblGrid>
              <a:tr h="405130">
                <a:tc>
                  <a:txBody>
                    <a:bodyPr/>
                    <a:p>
                      <a:r>
                        <a:rPr lang="en-US" altLang="zh-CN" sz="1100" b="1"/>
                        <a:t>Sr No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Category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Item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Cost (₹)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r>
                        <a:rPr lang="en-US" altLang="zh-CN" sz="1100" b="1"/>
                        <a:t>1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Product Development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Security hardening, packaging &amp; installer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70,000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r>
                        <a:rPr lang="en-US" altLang="zh-CN" sz="1100" b="1"/>
                        <a:t>2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Cloud &amp; Infrastructure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Update server, hosting &amp; basic backend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55,000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r>
                        <a:rPr lang="en-US" altLang="zh-CN" sz="1100" b="1"/>
                        <a:t>3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UI/UX &amp; Features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Role-based improvements &amp; polish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45,000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1530">
                <a:tc>
                  <a:txBody>
                    <a:bodyPr/>
                    <a:p>
                      <a:r>
                        <a:rPr lang="en-US" altLang="zh-CN" sz="1100" b="1"/>
                        <a:t>4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Testing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Cross-device, security &amp; performance testing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50,000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0260">
                <a:tc>
                  <a:txBody>
                    <a:bodyPr/>
                    <a:p>
                      <a:r>
                        <a:rPr lang="en-US" altLang="zh-CN" sz="1100" b="1"/>
                        <a:t>5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Pilot Deployment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College with 3–5 colleges (setup + support)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60,000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r>
                        <a:rPr lang="en-US" altLang="zh-CN" sz="1100" b="1"/>
                        <a:t>6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Outreach &amp; Marketing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Demo materials, LinkedIn ads, outreach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40,000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r>
                        <a:rPr lang="en-US" altLang="zh-CN" sz="1100" b="1"/>
                        <a:t>7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Legal &amp; Compliance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Basic legal docs, privacy policy support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30,000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r>
                        <a:rPr lang="en-US" altLang="zh-CN" sz="1100" b="1"/>
                        <a:t>8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Mentorship &amp; Consulting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Product &amp; GTM guidance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50,000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Grand Total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₹4,00,000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2F2F2F"/>
      </a:dk2>
      <a:lt2>
        <a:srgbClr val="E6E6E6"/>
      </a:lt2>
      <a:accent1>
        <a:srgbClr val="D83B01"/>
      </a:accent1>
      <a:accent2>
        <a:srgbClr val="2F2F2F"/>
      </a:accent2>
      <a:accent3>
        <a:srgbClr val="D2D2D2"/>
      </a:accent3>
      <a:accent4>
        <a:srgbClr val="E6E6E6"/>
      </a:accent4>
      <a:accent5>
        <a:srgbClr val="000000"/>
      </a:accent5>
      <a:accent6>
        <a:srgbClr val="D83B01"/>
      </a:accent6>
      <a:hlink>
        <a:srgbClr val="D83B01"/>
      </a:hlink>
      <a:folHlink>
        <a:srgbClr val="D83B0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5664</Words>
  <Application>WPS Presentation</Application>
  <PresentationFormat/>
  <Paragraphs>215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Lato Black</vt:lpstr>
      <vt:lpstr>Lato</vt:lpstr>
      <vt:lpstr>Microsoft YaHei</vt:lpstr>
      <vt:lpstr>Arial Unicode MS</vt:lpstr>
      <vt:lpstr>Office Theme</vt:lpstr>
      <vt:lpstr>Application to i-Hub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to i-Hub </dc:title>
  <dc:creator/>
  <cp:lastModifiedBy>Janmejay Acharya</cp:lastModifiedBy>
  <cp:revision>5</cp:revision>
  <dcterms:created xsi:type="dcterms:W3CDTF">2026-08-07T20:02:00Z</dcterms:created>
  <dcterms:modified xsi:type="dcterms:W3CDTF">2026-08-18T09:44:51Z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964FF9E1742642F3AA980A0C40E3D4A0_12</vt:lpwstr>
  </property>
  <property fmtid="{D5CDD505-2E9C-101B-9397-08002B2CF9AE}" pid="4" name="KSOProductBuildVer">
    <vt:lpwstr>1033-12.1.0.28032</vt:lpwstr>
  </property>
</Properties>
</file>